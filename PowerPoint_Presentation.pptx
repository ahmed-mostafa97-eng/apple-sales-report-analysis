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tif"/><Relationship Id="rId4" Type="http://schemas.openxmlformats.org/officeDocument/2006/relationships/image" Target="../media/image3.tif"/><Relationship Id="rId5" Type="http://schemas.openxmlformats.org/officeDocument/2006/relationships/image" Target="../media/image4.tif"/><Relationship Id="rId6" Type="http://schemas.openxmlformats.org/officeDocument/2006/relationships/image" Target="../media/image5.tif"/><Relationship Id="rId7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6.tif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160901" y="1242547"/>
            <a:ext cx="8001001" cy="538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300"/>
              </a:lnSpc>
              <a:defRPr b="1" spc="-1" sz="3200">
                <a:solidFill>
                  <a:srgbClr val="1A1A1A"/>
                </a:solidFill>
              </a:defRPr>
            </a:lvl1pPr>
          </a:lstStyle>
          <a:p>
            <a:pPr/>
            <a:r>
              <a:t>Apple Sales Analysis Report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571500" y="2617264"/>
            <a:ext cx="3438724" cy="28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b="1" sz="1600">
                <a:solidFill>
                  <a:srgbClr val="0066FF"/>
                </a:solidFill>
              </a:defRPr>
            </a:lvl1pPr>
          </a:lstStyle>
          <a:p>
            <a:pPr/>
            <a:r>
              <a:t>Sales, Products &amp; Warranty Performance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71500" y="3200176"/>
            <a:ext cx="1673858" cy="153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b="1" sz="1300">
                <a:solidFill>
                  <a:srgbClr val="4A4A4A"/>
                </a:solidFill>
              </a:defRPr>
            </a:lvl1pPr>
          </a:lstStyle>
          <a:p>
            <a:pPr/>
            <a:r>
              <a:t>Author: Ahmed Mostafa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571500" y="3412702"/>
            <a:ext cx="1511418" cy="153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b="1" sz="1300">
                <a:solidFill>
                  <a:srgbClr val="4A4A4A"/>
                </a:solidFill>
              </a:defRPr>
            </a:lvl1pPr>
          </a:lstStyle>
          <a:p>
            <a:pPr/>
            <a:r>
              <a:t>Date: November 2025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571500" y="3625229"/>
            <a:ext cx="1335113" cy="153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b="1" sz="1300">
                <a:solidFill>
                  <a:srgbClr val="4A4A4A"/>
                </a:solidFill>
              </a:defRPr>
            </a:lvl1pPr>
          </a:lstStyle>
          <a:p>
            <a:pPr/>
            <a:r>
              <a:t>Period: 2020 - 2024</a:t>
            </a:r>
          </a:p>
        </p:txBody>
      </p:sp>
      <p:pic>
        <p:nvPicPr>
          <p:cNvPr id="2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52703" y="1380509"/>
            <a:ext cx="2382482" cy="2382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96104" y="-14230"/>
            <a:ext cx="1246731" cy="7175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tory"/>
          <p:cNvSpPr txBox="1"/>
          <p:nvPr/>
        </p:nvSpPr>
        <p:spPr>
          <a:xfrm>
            <a:off x="124487" y="187924"/>
            <a:ext cx="1619098" cy="48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chemeClr val="accent2"/>
                </a:solidFill>
              </a:defRPr>
            </a:lvl1pPr>
          </a:lstStyle>
          <a:p>
            <a:pPr/>
            <a:r>
              <a:t>Story</a:t>
            </a:r>
          </a:p>
        </p:txBody>
      </p:sp>
      <p:sp>
        <p:nvSpPr>
          <p:cNvPr id="29" name="This report done by Python and provides a comprehensive analysis for Apple Company from year 2020 till 2024.…"/>
          <p:cNvSpPr txBox="1"/>
          <p:nvPr/>
        </p:nvSpPr>
        <p:spPr>
          <a:xfrm>
            <a:off x="163986" y="991069"/>
            <a:ext cx="4741056" cy="3994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buSzPct val="100000"/>
              <a:buChar char="-"/>
              <a:defRPr sz="2100"/>
            </a:pPr>
            <a:r>
              <a:t>This report done by </a:t>
            </a:r>
            <a:r>
              <a:rPr>
                <a:solidFill>
                  <a:schemeClr val="accent5"/>
                </a:solidFill>
              </a:rPr>
              <a:t>Python</a:t>
            </a:r>
            <a:r>
              <a:t> and provides a comprehensive analysis for Apple Company from year 2020 till 2024.</a:t>
            </a:r>
          </a:p>
          <a:p>
            <a:pPr defTabSz="457200">
              <a:defRPr sz="2100"/>
            </a:pPr>
          </a:p>
          <a:p>
            <a:pPr marL="210552" indent="-210552" defTabSz="457200">
              <a:buSzPct val="100000"/>
              <a:buChar char="-"/>
              <a:defRPr sz="2100"/>
            </a:pPr>
            <a:r>
              <a:t>The provided datasets were sales, product, store, category, and warranty data.</a:t>
            </a:r>
          </a:p>
          <a:p>
            <a:pPr defTabSz="457200">
              <a:defRPr sz="2100"/>
            </a:pPr>
          </a:p>
          <a:p>
            <a:pPr defTabSz="457200">
              <a:defRPr sz="2100"/>
            </a:pPr>
            <a:r>
              <a:t>- The analysis covers overall performance, sales trends by product category and geography, and an initial assessment of warranty claim performance.</a:t>
            </a:r>
          </a:p>
        </p:txBody>
      </p:sp>
      <p:pic>
        <p:nvPicPr>
          <p:cNvPr id="3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94805" y="1184710"/>
            <a:ext cx="2774080" cy="277408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96104" y="-14230"/>
            <a:ext cx="1246731" cy="7175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Text 0"/>
          <p:cNvSpPr txBox="1"/>
          <p:nvPr/>
        </p:nvSpPr>
        <p:spPr>
          <a:xfrm>
            <a:off x="571500" y="428625"/>
            <a:ext cx="7222586" cy="300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b="1" sz="2100">
                <a:solidFill>
                  <a:schemeClr val="accent2"/>
                </a:solidFill>
              </a:defRPr>
            </a:lvl1pPr>
          </a:lstStyle>
          <a:p>
            <a:pPr/>
            <a:r>
              <a:t>Strong Revenue Performance with Exceptional Product Reliability</a:t>
            </a:r>
          </a:p>
        </p:txBody>
      </p:sp>
      <p:sp>
        <p:nvSpPr>
          <p:cNvPr id="35" name="Text 1"/>
          <p:cNvSpPr txBox="1"/>
          <p:nvPr/>
        </p:nvSpPr>
        <p:spPr>
          <a:xfrm>
            <a:off x="571500" y="832944"/>
            <a:ext cx="8001000" cy="351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4A4A4A"/>
                </a:solidFill>
              </a:defRPr>
            </a:lvl1pPr>
          </a:lstStyle>
          <a:p>
            <a:pPr/>
            <a:r>
              <a:t>Total revenue reached $6.17 billion across 1.04 million transactions with a low 2.88% warranty claim rate, demonstrating robust market performance and high product quality.</a:t>
            </a:r>
          </a:p>
        </p:txBody>
      </p:sp>
      <p:sp>
        <p:nvSpPr>
          <p:cNvPr id="36" name="Text 2"/>
          <p:cNvSpPr txBox="1"/>
          <p:nvPr/>
        </p:nvSpPr>
        <p:spPr>
          <a:xfrm>
            <a:off x="814387" y="1902191"/>
            <a:ext cx="882900" cy="40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b="1" sz="2400">
                <a:solidFill>
                  <a:srgbClr val="0066FF"/>
                </a:solidFill>
              </a:defRPr>
            </a:lvl1pPr>
          </a:lstStyle>
          <a:p>
            <a:pPr/>
            <a:r>
              <a:t>$6.17B</a:t>
            </a:r>
          </a:p>
        </p:txBody>
      </p:sp>
      <p:sp>
        <p:nvSpPr>
          <p:cNvPr id="37" name="Text 3"/>
          <p:cNvSpPr txBox="1"/>
          <p:nvPr/>
        </p:nvSpPr>
        <p:spPr>
          <a:xfrm>
            <a:off x="814387" y="2385092"/>
            <a:ext cx="756658" cy="14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b="1" spc="1" sz="1000">
                <a:solidFill>
                  <a:srgbClr val="4A4A4A"/>
                </a:solidFill>
              </a:defRPr>
            </a:lvl1pPr>
          </a:lstStyle>
          <a:p>
            <a:pPr/>
            <a:r>
              <a:t>Total Revenue</a:t>
            </a:r>
          </a:p>
        </p:txBody>
      </p:sp>
      <p:sp>
        <p:nvSpPr>
          <p:cNvPr id="38" name="Text 4"/>
          <p:cNvSpPr txBox="1"/>
          <p:nvPr/>
        </p:nvSpPr>
        <p:spPr>
          <a:xfrm>
            <a:off x="5029200" y="1902191"/>
            <a:ext cx="823963" cy="40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b="1" sz="2400">
                <a:solidFill>
                  <a:srgbClr val="0066FF"/>
                </a:solidFill>
              </a:defRPr>
            </a:lvl1pPr>
          </a:lstStyle>
          <a:p>
            <a:pPr/>
            <a:r>
              <a:t>5.72M</a:t>
            </a:r>
          </a:p>
        </p:txBody>
      </p:sp>
      <p:sp>
        <p:nvSpPr>
          <p:cNvPr id="39" name="Text 5"/>
          <p:cNvSpPr txBox="1"/>
          <p:nvPr/>
        </p:nvSpPr>
        <p:spPr>
          <a:xfrm>
            <a:off x="5029200" y="2385092"/>
            <a:ext cx="547816" cy="14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b="1" spc="1" sz="1000">
                <a:solidFill>
                  <a:srgbClr val="4A4A4A"/>
                </a:solidFill>
              </a:defRPr>
            </a:lvl1pPr>
          </a:lstStyle>
          <a:p>
            <a:pPr/>
            <a:r>
              <a:t>Units Sold</a:t>
            </a:r>
          </a:p>
        </p:txBody>
      </p:sp>
      <p:sp>
        <p:nvSpPr>
          <p:cNvPr id="40" name="Text 6"/>
          <p:cNvSpPr txBox="1"/>
          <p:nvPr/>
        </p:nvSpPr>
        <p:spPr>
          <a:xfrm>
            <a:off x="814387" y="3707410"/>
            <a:ext cx="823964" cy="40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b="1" sz="2400">
                <a:solidFill>
                  <a:srgbClr val="0066FF"/>
                </a:solidFill>
              </a:defRPr>
            </a:lvl1pPr>
          </a:lstStyle>
          <a:p>
            <a:pPr/>
            <a:r>
              <a:t>1.04M</a:t>
            </a:r>
          </a:p>
        </p:txBody>
      </p:sp>
      <p:sp>
        <p:nvSpPr>
          <p:cNvPr id="41" name="Text 7"/>
          <p:cNvSpPr txBox="1"/>
          <p:nvPr/>
        </p:nvSpPr>
        <p:spPr>
          <a:xfrm>
            <a:off x="814387" y="4190312"/>
            <a:ext cx="971568" cy="14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b="1" spc="1" sz="1000">
                <a:solidFill>
                  <a:srgbClr val="4A4A4A"/>
                </a:solidFill>
              </a:defRPr>
            </a:lvl1pPr>
          </a:lstStyle>
          <a:p>
            <a:pPr/>
            <a:r>
              <a:t>Sales Transactions</a:t>
            </a:r>
          </a:p>
        </p:txBody>
      </p:sp>
      <p:sp>
        <p:nvSpPr>
          <p:cNvPr id="42" name="Text 8"/>
          <p:cNvSpPr txBox="1"/>
          <p:nvPr/>
        </p:nvSpPr>
        <p:spPr>
          <a:xfrm>
            <a:off x="5029200" y="3707410"/>
            <a:ext cx="779761" cy="401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200"/>
              </a:lnSpc>
              <a:defRPr b="1" sz="2400">
                <a:solidFill>
                  <a:srgbClr val="0066FF"/>
                </a:solidFill>
              </a:defRPr>
            </a:lvl1pPr>
          </a:lstStyle>
          <a:p>
            <a:pPr/>
            <a:r>
              <a:t>2.88%</a:t>
            </a:r>
          </a:p>
        </p:txBody>
      </p:sp>
      <p:sp>
        <p:nvSpPr>
          <p:cNvPr id="43" name="Text 9"/>
          <p:cNvSpPr txBox="1"/>
          <p:nvPr/>
        </p:nvSpPr>
        <p:spPr>
          <a:xfrm>
            <a:off x="5029200" y="4190312"/>
            <a:ext cx="1103151" cy="14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b="1" spc="1" sz="1000">
                <a:solidFill>
                  <a:srgbClr val="4A4A4A"/>
                </a:solidFill>
              </a:defRPr>
            </a:lvl1pPr>
          </a:lstStyle>
          <a:p>
            <a:pPr/>
            <a:r>
              <a:t>Warranty Claim Rate</a:t>
            </a:r>
          </a:p>
        </p:txBody>
      </p:sp>
      <p:pic>
        <p:nvPicPr>
          <p:cNvPr id="44" name="Image" descr="Image"/>
          <p:cNvPicPr>
            <a:picLocks noChangeAspect="1"/>
          </p:cNvPicPr>
          <p:nvPr/>
        </p:nvPicPr>
        <p:blipFill>
          <a:blip r:embed="rId3">
            <a:extLst/>
          </a:blip>
          <a:srcRect l="13667" t="13656" r="13666" b="13684"/>
          <a:stretch>
            <a:fillRect/>
          </a:stretch>
        </p:blipFill>
        <p:spPr>
          <a:xfrm>
            <a:off x="2234373" y="1774460"/>
            <a:ext cx="801609" cy="8015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7" h="21560" fill="norm" stroke="1" extrusionOk="0">
                <a:moveTo>
                  <a:pt x="11707" y="22"/>
                </a:moveTo>
                <a:cubicBezTo>
                  <a:pt x="11287" y="-25"/>
                  <a:pt x="9523" y="9"/>
                  <a:pt x="9423" y="64"/>
                </a:cubicBezTo>
                <a:cubicBezTo>
                  <a:pt x="9386" y="85"/>
                  <a:pt x="9201" y="118"/>
                  <a:pt x="9018" y="139"/>
                </a:cubicBezTo>
                <a:cubicBezTo>
                  <a:pt x="8834" y="160"/>
                  <a:pt x="8619" y="194"/>
                  <a:pt x="8537" y="214"/>
                </a:cubicBezTo>
                <a:cubicBezTo>
                  <a:pt x="8456" y="234"/>
                  <a:pt x="8298" y="266"/>
                  <a:pt x="8196" y="288"/>
                </a:cubicBezTo>
                <a:cubicBezTo>
                  <a:pt x="8094" y="311"/>
                  <a:pt x="7981" y="345"/>
                  <a:pt x="7940" y="363"/>
                </a:cubicBezTo>
                <a:cubicBezTo>
                  <a:pt x="7899" y="381"/>
                  <a:pt x="7808" y="403"/>
                  <a:pt x="7737" y="416"/>
                </a:cubicBezTo>
                <a:cubicBezTo>
                  <a:pt x="7666" y="430"/>
                  <a:pt x="7587" y="453"/>
                  <a:pt x="7556" y="470"/>
                </a:cubicBezTo>
                <a:cubicBezTo>
                  <a:pt x="7524" y="486"/>
                  <a:pt x="7400" y="531"/>
                  <a:pt x="7278" y="566"/>
                </a:cubicBezTo>
                <a:cubicBezTo>
                  <a:pt x="7156" y="601"/>
                  <a:pt x="7034" y="645"/>
                  <a:pt x="7011" y="662"/>
                </a:cubicBezTo>
                <a:cubicBezTo>
                  <a:pt x="6989" y="679"/>
                  <a:pt x="6876" y="730"/>
                  <a:pt x="6755" y="769"/>
                </a:cubicBezTo>
                <a:cubicBezTo>
                  <a:pt x="6318" y="910"/>
                  <a:pt x="4699" y="1797"/>
                  <a:pt x="4514" y="1996"/>
                </a:cubicBezTo>
                <a:cubicBezTo>
                  <a:pt x="4504" y="2007"/>
                  <a:pt x="4413" y="2065"/>
                  <a:pt x="4311" y="2135"/>
                </a:cubicBezTo>
                <a:cubicBezTo>
                  <a:pt x="3668" y="2576"/>
                  <a:pt x="2581" y="3656"/>
                  <a:pt x="2144" y="4292"/>
                </a:cubicBezTo>
                <a:cubicBezTo>
                  <a:pt x="2067" y="4404"/>
                  <a:pt x="1995" y="4506"/>
                  <a:pt x="1984" y="4516"/>
                </a:cubicBezTo>
                <a:cubicBezTo>
                  <a:pt x="1944" y="4553"/>
                  <a:pt x="1666" y="4982"/>
                  <a:pt x="1504" y="5252"/>
                </a:cubicBezTo>
                <a:cubicBezTo>
                  <a:pt x="1324" y="5554"/>
                  <a:pt x="891" y="6435"/>
                  <a:pt x="789" y="6704"/>
                </a:cubicBezTo>
                <a:cubicBezTo>
                  <a:pt x="754" y="6796"/>
                  <a:pt x="699" y="6921"/>
                  <a:pt x="672" y="6982"/>
                </a:cubicBezTo>
                <a:cubicBezTo>
                  <a:pt x="644" y="7043"/>
                  <a:pt x="598" y="7190"/>
                  <a:pt x="565" y="7302"/>
                </a:cubicBezTo>
                <a:cubicBezTo>
                  <a:pt x="532" y="7414"/>
                  <a:pt x="487" y="7539"/>
                  <a:pt x="469" y="7580"/>
                </a:cubicBezTo>
                <a:cubicBezTo>
                  <a:pt x="451" y="7620"/>
                  <a:pt x="416" y="7723"/>
                  <a:pt x="394" y="7814"/>
                </a:cubicBezTo>
                <a:cubicBezTo>
                  <a:pt x="296" y="8224"/>
                  <a:pt x="247" y="8403"/>
                  <a:pt x="191" y="8604"/>
                </a:cubicBezTo>
                <a:cubicBezTo>
                  <a:pt x="135" y="8810"/>
                  <a:pt x="110" y="9015"/>
                  <a:pt x="21" y="9875"/>
                </a:cubicBezTo>
                <a:cubicBezTo>
                  <a:pt x="-21" y="10275"/>
                  <a:pt x="5" y="12053"/>
                  <a:pt x="53" y="12127"/>
                </a:cubicBezTo>
                <a:cubicBezTo>
                  <a:pt x="78" y="12166"/>
                  <a:pt x="121" y="12444"/>
                  <a:pt x="191" y="12971"/>
                </a:cubicBezTo>
                <a:cubicBezTo>
                  <a:pt x="204" y="13062"/>
                  <a:pt x="226" y="13175"/>
                  <a:pt x="245" y="13216"/>
                </a:cubicBezTo>
                <a:cubicBezTo>
                  <a:pt x="276" y="13286"/>
                  <a:pt x="309" y="13382"/>
                  <a:pt x="405" y="13793"/>
                </a:cubicBezTo>
                <a:cubicBezTo>
                  <a:pt x="426" y="13884"/>
                  <a:pt x="454" y="13975"/>
                  <a:pt x="469" y="13995"/>
                </a:cubicBezTo>
                <a:cubicBezTo>
                  <a:pt x="484" y="14016"/>
                  <a:pt x="508" y="14084"/>
                  <a:pt x="522" y="14145"/>
                </a:cubicBezTo>
                <a:cubicBezTo>
                  <a:pt x="536" y="14206"/>
                  <a:pt x="587" y="14342"/>
                  <a:pt x="629" y="14455"/>
                </a:cubicBezTo>
                <a:cubicBezTo>
                  <a:pt x="671" y="14567"/>
                  <a:pt x="727" y="14725"/>
                  <a:pt x="757" y="14807"/>
                </a:cubicBezTo>
                <a:cubicBezTo>
                  <a:pt x="787" y="14888"/>
                  <a:pt x="836" y="15002"/>
                  <a:pt x="864" y="15063"/>
                </a:cubicBezTo>
                <a:cubicBezTo>
                  <a:pt x="1367" y="16170"/>
                  <a:pt x="1879" y="17012"/>
                  <a:pt x="2454" y="17657"/>
                </a:cubicBezTo>
                <a:cubicBezTo>
                  <a:pt x="2617" y="17840"/>
                  <a:pt x="2807" y="18063"/>
                  <a:pt x="2870" y="18148"/>
                </a:cubicBezTo>
                <a:cubicBezTo>
                  <a:pt x="2934" y="18233"/>
                  <a:pt x="3063" y="18378"/>
                  <a:pt x="3169" y="18468"/>
                </a:cubicBezTo>
                <a:cubicBezTo>
                  <a:pt x="3275" y="18559"/>
                  <a:pt x="3538" y="18780"/>
                  <a:pt x="3745" y="18970"/>
                </a:cubicBezTo>
                <a:cubicBezTo>
                  <a:pt x="4094" y="19290"/>
                  <a:pt x="4854" y="19844"/>
                  <a:pt x="5250" y="20059"/>
                </a:cubicBezTo>
                <a:cubicBezTo>
                  <a:pt x="5342" y="20109"/>
                  <a:pt x="5432" y="20154"/>
                  <a:pt x="5442" y="20166"/>
                </a:cubicBezTo>
                <a:cubicBezTo>
                  <a:pt x="5468" y="20195"/>
                  <a:pt x="6482" y="20696"/>
                  <a:pt x="6766" y="20817"/>
                </a:cubicBezTo>
                <a:cubicBezTo>
                  <a:pt x="6893" y="20871"/>
                  <a:pt x="7108" y="20946"/>
                  <a:pt x="7246" y="20988"/>
                </a:cubicBezTo>
                <a:cubicBezTo>
                  <a:pt x="7384" y="21029"/>
                  <a:pt x="7525" y="21076"/>
                  <a:pt x="7566" y="21095"/>
                </a:cubicBezTo>
                <a:cubicBezTo>
                  <a:pt x="7607" y="21113"/>
                  <a:pt x="7720" y="21147"/>
                  <a:pt x="7812" y="21169"/>
                </a:cubicBezTo>
                <a:cubicBezTo>
                  <a:pt x="7904" y="21191"/>
                  <a:pt x="8074" y="21235"/>
                  <a:pt x="8196" y="21265"/>
                </a:cubicBezTo>
                <a:cubicBezTo>
                  <a:pt x="8699" y="21391"/>
                  <a:pt x="9124" y="21468"/>
                  <a:pt x="9338" y="21468"/>
                </a:cubicBezTo>
                <a:cubicBezTo>
                  <a:pt x="9431" y="21468"/>
                  <a:pt x="9521" y="21481"/>
                  <a:pt x="9541" y="21500"/>
                </a:cubicBezTo>
                <a:cubicBezTo>
                  <a:pt x="9560" y="21520"/>
                  <a:pt x="9754" y="21546"/>
                  <a:pt x="9968" y="21554"/>
                </a:cubicBezTo>
                <a:cubicBezTo>
                  <a:pt x="10542" y="21575"/>
                  <a:pt x="11963" y="21538"/>
                  <a:pt x="12092" y="21500"/>
                </a:cubicBezTo>
                <a:cubicBezTo>
                  <a:pt x="12153" y="21482"/>
                  <a:pt x="12334" y="21457"/>
                  <a:pt x="12497" y="21436"/>
                </a:cubicBezTo>
                <a:cubicBezTo>
                  <a:pt x="12814" y="21395"/>
                  <a:pt x="12997" y="21354"/>
                  <a:pt x="13351" y="21265"/>
                </a:cubicBezTo>
                <a:cubicBezTo>
                  <a:pt x="13473" y="21235"/>
                  <a:pt x="13654" y="21191"/>
                  <a:pt x="13746" y="21169"/>
                </a:cubicBezTo>
                <a:cubicBezTo>
                  <a:pt x="13838" y="21147"/>
                  <a:pt x="13940" y="21112"/>
                  <a:pt x="13981" y="21095"/>
                </a:cubicBezTo>
                <a:cubicBezTo>
                  <a:pt x="14146" y="21023"/>
                  <a:pt x="14675" y="20838"/>
                  <a:pt x="14706" y="20838"/>
                </a:cubicBezTo>
                <a:cubicBezTo>
                  <a:pt x="14768" y="20838"/>
                  <a:pt x="16071" y="20216"/>
                  <a:pt x="16115" y="20166"/>
                </a:cubicBezTo>
                <a:cubicBezTo>
                  <a:pt x="16125" y="20154"/>
                  <a:pt x="16215" y="20108"/>
                  <a:pt x="16307" y="20059"/>
                </a:cubicBezTo>
                <a:cubicBezTo>
                  <a:pt x="16399" y="20010"/>
                  <a:pt x="16501" y="19944"/>
                  <a:pt x="16542" y="19910"/>
                </a:cubicBezTo>
                <a:cubicBezTo>
                  <a:pt x="16583" y="19875"/>
                  <a:pt x="16711" y="19794"/>
                  <a:pt x="16820" y="19728"/>
                </a:cubicBezTo>
                <a:cubicBezTo>
                  <a:pt x="16929" y="19663"/>
                  <a:pt x="17031" y="19597"/>
                  <a:pt x="17054" y="19579"/>
                </a:cubicBezTo>
                <a:cubicBezTo>
                  <a:pt x="17078" y="19560"/>
                  <a:pt x="17154" y="19498"/>
                  <a:pt x="17225" y="19440"/>
                </a:cubicBezTo>
                <a:cubicBezTo>
                  <a:pt x="17296" y="19382"/>
                  <a:pt x="17407" y="19303"/>
                  <a:pt x="17460" y="19269"/>
                </a:cubicBezTo>
                <a:cubicBezTo>
                  <a:pt x="17538" y="19220"/>
                  <a:pt x="18308" y="18522"/>
                  <a:pt x="18485" y="18340"/>
                </a:cubicBezTo>
                <a:cubicBezTo>
                  <a:pt x="18795" y="18021"/>
                  <a:pt x="19212" y="17549"/>
                  <a:pt x="19285" y="17433"/>
                </a:cubicBezTo>
                <a:cubicBezTo>
                  <a:pt x="19336" y="17352"/>
                  <a:pt x="19392" y="17275"/>
                  <a:pt x="19413" y="17262"/>
                </a:cubicBezTo>
                <a:cubicBezTo>
                  <a:pt x="19460" y="17233"/>
                  <a:pt x="19845" y="16656"/>
                  <a:pt x="20064" y="16291"/>
                </a:cubicBezTo>
                <a:cubicBezTo>
                  <a:pt x="20231" y="16011"/>
                  <a:pt x="20675" y="15127"/>
                  <a:pt x="20768" y="14882"/>
                </a:cubicBezTo>
                <a:cubicBezTo>
                  <a:pt x="20799" y="14800"/>
                  <a:pt x="20857" y="14631"/>
                  <a:pt x="20907" y="14508"/>
                </a:cubicBezTo>
                <a:cubicBezTo>
                  <a:pt x="20958" y="14385"/>
                  <a:pt x="21020" y="14227"/>
                  <a:pt x="21035" y="14156"/>
                </a:cubicBezTo>
                <a:cubicBezTo>
                  <a:pt x="21051" y="14084"/>
                  <a:pt x="21073" y="14016"/>
                  <a:pt x="21089" y="13995"/>
                </a:cubicBezTo>
                <a:cubicBezTo>
                  <a:pt x="21104" y="13975"/>
                  <a:pt x="21140" y="13873"/>
                  <a:pt x="21163" y="13771"/>
                </a:cubicBezTo>
                <a:cubicBezTo>
                  <a:pt x="21187" y="13669"/>
                  <a:pt x="21229" y="13488"/>
                  <a:pt x="21259" y="13366"/>
                </a:cubicBezTo>
                <a:cubicBezTo>
                  <a:pt x="21290" y="13243"/>
                  <a:pt x="21327" y="13062"/>
                  <a:pt x="21345" y="12971"/>
                </a:cubicBezTo>
                <a:cubicBezTo>
                  <a:pt x="21362" y="12879"/>
                  <a:pt x="21386" y="12777"/>
                  <a:pt x="21398" y="12746"/>
                </a:cubicBezTo>
                <a:cubicBezTo>
                  <a:pt x="21425" y="12677"/>
                  <a:pt x="21486" y="12199"/>
                  <a:pt x="21537" y="11636"/>
                </a:cubicBezTo>
                <a:cubicBezTo>
                  <a:pt x="21579" y="11167"/>
                  <a:pt x="21548" y="9648"/>
                  <a:pt x="21494" y="9469"/>
                </a:cubicBezTo>
                <a:cubicBezTo>
                  <a:pt x="21476" y="9408"/>
                  <a:pt x="21440" y="9216"/>
                  <a:pt x="21420" y="9042"/>
                </a:cubicBezTo>
                <a:cubicBezTo>
                  <a:pt x="21399" y="8869"/>
                  <a:pt x="21367" y="8654"/>
                  <a:pt x="21345" y="8562"/>
                </a:cubicBezTo>
                <a:cubicBezTo>
                  <a:pt x="21322" y="8470"/>
                  <a:pt x="21291" y="8289"/>
                  <a:pt x="21270" y="8167"/>
                </a:cubicBezTo>
                <a:cubicBezTo>
                  <a:pt x="21249" y="8044"/>
                  <a:pt x="21211" y="7931"/>
                  <a:pt x="21195" y="7911"/>
                </a:cubicBezTo>
                <a:cubicBezTo>
                  <a:pt x="21179" y="7890"/>
                  <a:pt x="21157" y="7810"/>
                  <a:pt x="21142" y="7740"/>
                </a:cubicBezTo>
                <a:cubicBezTo>
                  <a:pt x="21127" y="7669"/>
                  <a:pt x="21105" y="7590"/>
                  <a:pt x="21089" y="7558"/>
                </a:cubicBezTo>
                <a:cubicBezTo>
                  <a:pt x="21072" y="7527"/>
                  <a:pt x="21028" y="7403"/>
                  <a:pt x="20993" y="7281"/>
                </a:cubicBezTo>
                <a:cubicBezTo>
                  <a:pt x="20903" y="6973"/>
                  <a:pt x="20647" y="6356"/>
                  <a:pt x="20470" y="6021"/>
                </a:cubicBezTo>
                <a:cubicBezTo>
                  <a:pt x="20437" y="5960"/>
                  <a:pt x="20340" y="5768"/>
                  <a:pt x="20256" y="5605"/>
                </a:cubicBezTo>
                <a:cubicBezTo>
                  <a:pt x="20086" y="5273"/>
                  <a:pt x="20052" y="5232"/>
                  <a:pt x="19744" y="4772"/>
                </a:cubicBezTo>
                <a:cubicBezTo>
                  <a:pt x="19293" y="4100"/>
                  <a:pt x="18996" y="3741"/>
                  <a:pt x="18356" y="3096"/>
                </a:cubicBezTo>
                <a:cubicBezTo>
                  <a:pt x="18023" y="2760"/>
                  <a:pt x="17517" y="2304"/>
                  <a:pt x="17268" y="2125"/>
                </a:cubicBezTo>
                <a:cubicBezTo>
                  <a:pt x="17057" y="1973"/>
                  <a:pt x="16739" y="1763"/>
                  <a:pt x="16659" y="1719"/>
                </a:cubicBezTo>
                <a:cubicBezTo>
                  <a:pt x="16592" y="1682"/>
                  <a:pt x="16199" y="1452"/>
                  <a:pt x="15912" y="1281"/>
                </a:cubicBezTo>
                <a:cubicBezTo>
                  <a:pt x="15562" y="1073"/>
                  <a:pt x="14674" y="684"/>
                  <a:pt x="14269" y="566"/>
                </a:cubicBezTo>
                <a:cubicBezTo>
                  <a:pt x="14157" y="533"/>
                  <a:pt x="14033" y="486"/>
                  <a:pt x="14002" y="470"/>
                </a:cubicBezTo>
                <a:cubicBezTo>
                  <a:pt x="13971" y="454"/>
                  <a:pt x="13891" y="432"/>
                  <a:pt x="13821" y="416"/>
                </a:cubicBezTo>
                <a:cubicBezTo>
                  <a:pt x="13750" y="401"/>
                  <a:pt x="13670" y="376"/>
                  <a:pt x="13650" y="363"/>
                </a:cubicBezTo>
                <a:cubicBezTo>
                  <a:pt x="13629" y="350"/>
                  <a:pt x="13516" y="322"/>
                  <a:pt x="13394" y="299"/>
                </a:cubicBezTo>
                <a:cubicBezTo>
                  <a:pt x="13271" y="276"/>
                  <a:pt x="13075" y="236"/>
                  <a:pt x="12956" y="203"/>
                </a:cubicBezTo>
                <a:cubicBezTo>
                  <a:pt x="12837" y="170"/>
                  <a:pt x="12588" y="117"/>
                  <a:pt x="12401" y="96"/>
                </a:cubicBezTo>
                <a:cubicBezTo>
                  <a:pt x="12214" y="76"/>
                  <a:pt x="11901" y="43"/>
                  <a:pt x="11707" y="22"/>
                </a:cubicBezTo>
                <a:close/>
                <a:moveTo>
                  <a:pt x="6616" y="13761"/>
                </a:moveTo>
                <a:cubicBezTo>
                  <a:pt x="6643" y="13750"/>
                  <a:pt x="6679" y="13748"/>
                  <a:pt x="6691" y="13761"/>
                </a:cubicBezTo>
                <a:cubicBezTo>
                  <a:pt x="6703" y="13773"/>
                  <a:pt x="6677" y="13784"/>
                  <a:pt x="6638" y="13782"/>
                </a:cubicBezTo>
                <a:cubicBezTo>
                  <a:pt x="6595" y="13780"/>
                  <a:pt x="6587" y="13772"/>
                  <a:pt x="6616" y="13761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45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02890" y="1733780"/>
            <a:ext cx="882899" cy="882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Image" descr="Image"/>
          <p:cNvPicPr>
            <a:picLocks noChangeAspect="1"/>
          </p:cNvPicPr>
          <p:nvPr/>
        </p:nvPicPr>
        <p:blipFill>
          <a:blip r:embed="rId5">
            <a:extLst/>
          </a:blip>
          <a:srcRect l="15173" t="12000" r="15023" b="12031"/>
          <a:stretch>
            <a:fillRect/>
          </a:stretch>
        </p:blipFill>
        <p:spPr>
          <a:xfrm>
            <a:off x="2267038" y="3621480"/>
            <a:ext cx="736279" cy="801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9" h="21588" fill="norm" stroke="1" extrusionOk="0">
                <a:moveTo>
                  <a:pt x="13254" y="0"/>
                </a:moveTo>
                <a:cubicBezTo>
                  <a:pt x="12857" y="0"/>
                  <a:pt x="12754" y="316"/>
                  <a:pt x="12754" y="1476"/>
                </a:cubicBezTo>
                <a:lnTo>
                  <a:pt x="12754" y="2652"/>
                </a:lnTo>
                <a:lnTo>
                  <a:pt x="6406" y="2684"/>
                </a:lnTo>
                <a:lnTo>
                  <a:pt x="46" y="2716"/>
                </a:lnTo>
                <a:lnTo>
                  <a:pt x="12" y="4223"/>
                </a:lnTo>
                <a:cubicBezTo>
                  <a:pt x="-10" y="5053"/>
                  <a:pt x="-3" y="5800"/>
                  <a:pt x="35" y="5891"/>
                </a:cubicBezTo>
                <a:cubicBezTo>
                  <a:pt x="91" y="6027"/>
                  <a:pt x="2067" y="6057"/>
                  <a:pt x="10789" y="6030"/>
                </a:cubicBezTo>
                <a:lnTo>
                  <a:pt x="21474" y="5998"/>
                </a:lnTo>
                <a:lnTo>
                  <a:pt x="21520" y="5678"/>
                </a:lnTo>
                <a:cubicBezTo>
                  <a:pt x="21554" y="5409"/>
                  <a:pt x="21435" y="5268"/>
                  <a:pt x="20834" y="4886"/>
                </a:cubicBezTo>
                <a:cubicBezTo>
                  <a:pt x="20434" y="4632"/>
                  <a:pt x="19690" y="4148"/>
                  <a:pt x="19195" y="3817"/>
                </a:cubicBezTo>
                <a:cubicBezTo>
                  <a:pt x="15253" y="1185"/>
                  <a:pt x="13404" y="0"/>
                  <a:pt x="13254" y="0"/>
                </a:cubicBezTo>
                <a:close/>
                <a:moveTo>
                  <a:pt x="10743" y="6822"/>
                </a:moveTo>
                <a:cubicBezTo>
                  <a:pt x="4184" y="6822"/>
                  <a:pt x="3963" y="6831"/>
                  <a:pt x="3825" y="7068"/>
                </a:cubicBezTo>
                <a:cubicBezTo>
                  <a:pt x="3612" y="7433"/>
                  <a:pt x="3634" y="14429"/>
                  <a:pt x="3848" y="14627"/>
                </a:cubicBezTo>
                <a:cubicBezTo>
                  <a:pt x="4108" y="14866"/>
                  <a:pt x="17467" y="14845"/>
                  <a:pt x="17684" y="14605"/>
                </a:cubicBezTo>
                <a:cubicBezTo>
                  <a:pt x="17903" y="14362"/>
                  <a:pt x="17904" y="7236"/>
                  <a:pt x="17684" y="6993"/>
                </a:cubicBezTo>
                <a:cubicBezTo>
                  <a:pt x="17557" y="6852"/>
                  <a:pt x="16284" y="6822"/>
                  <a:pt x="10743" y="6822"/>
                </a:cubicBezTo>
                <a:close/>
                <a:moveTo>
                  <a:pt x="14510" y="7591"/>
                </a:moveTo>
                <a:cubicBezTo>
                  <a:pt x="14572" y="7605"/>
                  <a:pt x="14625" y="7634"/>
                  <a:pt x="14661" y="7688"/>
                </a:cubicBezTo>
                <a:cubicBezTo>
                  <a:pt x="14733" y="7795"/>
                  <a:pt x="14696" y="7942"/>
                  <a:pt x="14579" y="8008"/>
                </a:cubicBezTo>
                <a:cubicBezTo>
                  <a:pt x="14463" y="8075"/>
                  <a:pt x="14314" y="8041"/>
                  <a:pt x="14242" y="7934"/>
                </a:cubicBezTo>
                <a:cubicBezTo>
                  <a:pt x="14170" y="7826"/>
                  <a:pt x="14207" y="7679"/>
                  <a:pt x="14324" y="7613"/>
                </a:cubicBezTo>
                <a:cubicBezTo>
                  <a:pt x="14382" y="7580"/>
                  <a:pt x="14447" y="7578"/>
                  <a:pt x="14510" y="7591"/>
                </a:cubicBezTo>
                <a:close/>
                <a:moveTo>
                  <a:pt x="10661" y="10521"/>
                </a:moveTo>
                <a:cubicBezTo>
                  <a:pt x="10773" y="10538"/>
                  <a:pt x="10899" y="10606"/>
                  <a:pt x="11115" y="10746"/>
                </a:cubicBezTo>
                <a:cubicBezTo>
                  <a:pt x="11373" y="10913"/>
                  <a:pt x="11608" y="11061"/>
                  <a:pt x="11638" y="11077"/>
                </a:cubicBezTo>
                <a:cubicBezTo>
                  <a:pt x="11668" y="11093"/>
                  <a:pt x="11551" y="11217"/>
                  <a:pt x="11371" y="11355"/>
                </a:cubicBezTo>
                <a:cubicBezTo>
                  <a:pt x="10970" y="11662"/>
                  <a:pt x="10381" y="11696"/>
                  <a:pt x="10080" y="11419"/>
                </a:cubicBezTo>
                <a:cubicBezTo>
                  <a:pt x="9783" y="11146"/>
                  <a:pt x="9858" y="10851"/>
                  <a:pt x="10289" y="10628"/>
                </a:cubicBezTo>
                <a:cubicBezTo>
                  <a:pt x="10451" y="10545"/>
                  <a:pt x="10550" y="10505"/>
                  <a:pt x="10661" y="10521"/>
                </a:cubicBezTo>
                <a:close/>
                <a:moveTo>
                  <a:pt x="10685" y="15568"/>
                </a:moveTo>
                <a:lnTo>
                  <a:pt x="46" y="15600"/>
                </a:lnTo>
                <a:lnTo>
                  <a:pt x="12" y="15921"/>
                </a:lnTo>
                <a:cubicBezTo>
                  <a:pt x="-25" y="16210"/>
                  <a:pt x="195" y="16400"/>
                  <a:pt x="2000" y="17589"/>
                </a:cubicBezTo>
                <a:cubicBezTo>
                  <a:pt x="3118" y="18325"/>
                  <a:pt x="4927" y="19520"/>
                  <a:pt x="6022" y="20251"/>
                </a:cubicBezTo>
                <a:cubicBezTo>
                  <a:pt x="7118" y="20981"/>
                  <a:pt x="8114" y="21584"/>
                  <a:pt x="8231" y="21587"/>
                </a:cubicBezTo>
                <a:cubicBezTo>
                  <a:pt x="8666" y="21600"/>
                  <a:pt x="8766" y="21313"/>
                  <a:pt x="8766" y="20123"/>
                </a:cubicBezTo>
                <a:lnTo>
                  <a:pt x="8766" y="18946"/>
                </a:lnTo>
                <a:lnTo>
                  <a:pt x="15079" y="18946"/>
                </a:lnTo>
                <a:cubicBezTo>
                  <a:pt x="19441" y="18946"/>
                  <a:pt x="21422" y="18902"/>
                  <a:pt x="21485" y="18807"/>
                </a:cubicBezTo>
                <a:cubicBezTo>
                  <a:pt x="21555" y="18704"/>
                  <a:pt x="21575" y="17952"/>
                  <a:pt x="21567" y="17204"/>
                </a:cubicBezTo>
                <a:cubicBezTo>
                  <a:pt x="21559" y="16456"/>
                  <a:pt x="21522" y="15719"/>
                  <a:pt x="21451" y="15653"/>
                </a:cubicBezTo>
                <a:cubicBezTo>
                  <a:pt x="21376" y="15585"/>
                  <a:pt x="16971" y="15549"/>
                  <a:pt x="10685" y="1556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47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376719" y="3621363"/>
            <a:ext cx="1135242" cy="80154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pasted-movie.png" descr="pasted-movi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039683" y="-14230"/>
            <a:ext cx="1103152" cy="6348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Text 0"/>
          <p:cNvSpPr txBox="1"/>
          <p:nvPr/>
        </p:nvSpPr>
        <p:spPr>
          <a:xfrm>
            <a:off x="571500" y="1227029"/>
            <a:ext cx="3441976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300"/>
              </a:lnSpc>
              <a:defRPr b="1" sz="1600">
                <a:solidFill>
                  <a:schemeClr val="accent6"/>
                </a:solidFill>
              </a:defRPr>
            </a:lvl1pPr>
          </a:lstStyle>
          <a:p>
            <a:pPr/>
            <a:r>
              <a:t>Tablet and Accessories Categories Drive 40% of Total Revenue</a:t>
            </a:r>
          </a:p>
        </p:txBody>
      </p:sp>
      <p:sp>
        <p:nvSpPr>
          <p:cNvPr id="52" name="Text 1"/>
          <p:cNvSpPr txBox="1"/>
          <p:nvPr/>
        </p:nvSpPr>
        <p:spPr>
          <a:xfrm>
            <a:off x="571500" y="2035634"/>
            <a:ext cx="3441976" cy="71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4A4A4A"/>
                </a:solidFill>
              </a:defRPr>
            </a:lvl1pPr>
          </a:lstStyle>
          <a:p>
            <a:pPr/>
            <a:r>
              <a:t>The top five product categories generate the majority of revenue, with Tablets ($953M) and Accessories ($927M) leading the market. This concentration indicates strong market demand in specific segments.</a:t>
            </a:r>
          </a:p>
        </p:txBody>
      </p:sp>
      <p:sp>
        <p:nvSpPr>
          <p:cNvPr id="53" name="Text 2"/>
          <p:cNvSpPr txBox="1"/>
          <p:nvPr/>
        </p:nvSpPr>
        <p:spPr>
          <a:xfrm>
            <a:off x="571500" y="2981399"/>
            <a:ext cx="1450281" cy="172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b="1" sz="1600">
                <a:solidFill>
                  <a:srgbClr val="0066FF"/>
                </a:solidFill>
              </a:defRPr>
            </a:lvl1pPr>
          </a:lstStyle>
          <a:p>
            <a:pPr/>
            <a:r>
              <a:t>Top 5 Categories:</a:t>
            </a:r>
          </a:p>
        </p:txBody>
      </p:sp>
      <p:sp>
        <p:nvSpPr>
          <p:cNvPr id="54" name="Text 3"/>
          <p:cNvSpPr txBox="1"/>
          <p:nvPr/>
        </p:nvSpPr>
        <p:spPr>
          <a:xfrm>
            <a:off x="571500" y="3242146"/>
            <a:ext cx="3441976" cy="89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b="1" sz="1200">
                <a:solidFill>
                  <a:srgbClr val="1A1A1A"/>
                </a:solidFill>
              </a:defRPr>
            </a:pPr>
            <a:r>
              <a:t>1. Tablet:</a:t>
            </a:r>
            <a:r>
              <a:rPr b="0">
                <a:solidFill>
                  <a:srgbClr val="4A4A4A"/>
                </a:solidFill>
              </a:rPr>
              <a:t> $953.4M</a:t>
            </a:r>
            <a:endParaRPr b="0">
              <a:solidFill>
                <a:srgbClr val="4A4A4A"/>
              </a:solidFill>
            </a:endParaRPr>
          </a:p>
          <a:p>
            <a:pPr>
              <a:lnSpc>
                <a:spcPts val="1400"/>
              </a:lnSpc>
              <a:defRPr b="1" sz="1200">
                <a:solidFill>
                  <a:srgbClr val="1A1A1A"/>
                </a:solidFill>
              </a:defRPr>
            </a:pPr>
            <a:r>
              <a:t>2. Accessories:</a:t>
            </a:r>
            <a:r>
              <a:rPr b="0">
                <a:solidFill>
                  <a:srgbClr val="4A4A4A"/>
                </a:solidFill>
              </a:rPr>
              <a:t> $927.1M</a:t>
            </a:r>
            <a:endParaRPr b="0">
              <a:solidFill>
                <a:srgbClr val="4A4A4A"/>
              </a:solidFill>
            </a:endParaRPr>
          </a:p>
          <a:p>
            <a:pPr>
              <a:lnSpc>
                <a:spcPts val="1400"/>
              </a:lnSpc>
              <a:defRPr b="1" sz="1200">
                <a:solidFill>
                  <a:srgbClr val="1A1A1A"/>
                </a:solidFill>
              </a:defRPr>
            </a:pPr>
            <a:r>
              <a:t>3. Smartphone:</a:t>
            </a:r>
            <a:r>
              <a:rPr b="0">
                <a:solidFill>
                  <a:srgbClr val="4A4A4A"/>
                </a:solidFill>
              </a:rPr>
              <a:t> $865.1M</a:t>
            </a:r>
            <a:endParaRPr b="0">
              <a:solidFill>
                <a:srgbClr val="4A4A4A"/>
              </a:solidFill>
            </a:endParaRPr>
          </a:p>
          <a:p>
            <a:pPr>
              <a:lnSpc>
                <a:spcPts val="1400"/>
              </a:lnSpc>
              <a:defRPr b="1" sz="1200">
                <a:solidFill>
                  <a:srgbClr val="1A1A1A"/>
                </a:solidFill>
              </a:defRPr>
            </a:pPr>
            <a:r>
              <a:t>4. Audio:</a:t>
            </a:r>
            <a:r>
              <a:rPr b="0">
                <a:solidFill>
                  <a:srgbClr val="4A4A4A"/>
                </a:solidFill>
              </a:rPr>
              <a:t> $794.9M</a:t>
            </a:r>
            <a:endParaRPr b="0">
              <a:solidFill>
                <a:srgbClr val="4A4A4A"/>
              </a:solidFill>
            </a:endParaRPr>
          </a:p>
          <a:p>
            <a:pPr>
              <a:lnSpc>
                <a:spcPts val="1400"/>
              </a:lnSpc>
              <a:defRPr b="1" sz="1200">
                <a:solidFill>
                  <a:srgbClr val="1A1A1A"/>
                </a:solidFill>
              </a:defRPr>
            </a:pPr>
            <a:r>
              <a:t>5. Laptop:</a:t>
            </a:r>
            <a:r>
              <a:rPr b="0">
                <a:solidFill>
                  <a:srgbClr val="4A4A4A"/>
                </a:solidFill>
              </a:rPr>
              <a:t> $763.3M</a:t>
            </a:r>
          </a:p>
        </p:txBody>
      </p:sp>
      <p:sp>
        <p:nvSpPr>
          <p:cNvPr id="55" name="Total Revenue for Each Product"/>
          <p:cNvSpPr txBox="1"/>
          <p:nvPr/>
        </p:nvSpPr>
        <p:spPr>
          <a:xfrm>
            <a:off x="2974993" y="210396"/>
            <a:ext cx="4032013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solidFill>
                  <a:schemeClr val="accent2"/>
                </a:solidFill>
              </a:defRPr>
            </a:lvl1pPr>
          </a:lstStyle>
          <a:p>
            <a:pPr/>
            <a:r>
              <a:t>Total Revenue for Each Product</a:t>
            </a:r>
          </a:p>
        </p:txBody>
      </p:sp>
      <p:pic>
        <p:nvPicPr>
          <p:cNvPr id="56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89896" y="1372343"/>
            <a:ext cx="4723515" cy="27563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96104" y="-14230"/>
            <a:ext cx="1246731" cy="7175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Text 0"/>
          <p:cNvSpPr txBox="1"/>
          <p:nvPr/>
        </p:nvSpPr>
        <p:spPr>
          <a:xfrm>
            <a:off x="571500" y="428625"/>
            <a:ext cx="8001000" cy="2416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Subscription Services Outperform Hardware in Individual Product Revenue</a:t>
            </a:r>
          </a:p>
        </p:txBody>
      </p:sp>
      <p:sp>
        <p:nvSpPr>
          <p:cNvPr id="61" name="Text 1"/>
          <p:cNvSpPr txBox="1"/>
          <p:nvPr/>
        </p:nvSpPr>
        <p:spPr>
          <a:xfrm>
            <a:off x="571500" y="1165826"/>
            <a:ext cx="8001000" cy="358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4A4A4A"/>
                </a:solidFill>
              </a:defRPr>
            </a:lvl1pPr>
          </a:lstStyle>
          <a:p>
            <a:pPr/>
            <a:r>
              <a:t>Apple Music leads all products with $125.4M in revenue, surpassing premium hardware like the iMac 27-inch. This demonstrates the strategic value of recurring revenue models.</a:t>
            </a:r>
          </a:p>
        </p:txBody>
      </p:sp>
      <p:sp>
        <p:nvSpPr>
          <p:cNvPr id="62" name="Text 2"/>
          <p:cNvSpPr txBox="1"/>
          <p:nvPr/>
        </p:nvSpPr>
        <p:spPr>
          <a:xfrm>
            <a:off x="785812" y="2245928"/>
            <a:ext cx="4795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b="1" spc="1" sz="1000">
                <a:solidFill>
                  <a:srgbClr val="FF3366"/>
                </a:solidFill>
              </a:defRPr>
            </a:lvl1pPr>
          </a:lstStyle>
          <a:p>
            <a:pPr/>
            <a:r>
              <a:t>1st Place</a:t>
            </a:r>
          </a:p>
        </p:txBody>
      </p:sp>
      <p:sp>
        <p:nvSpPr>
          <p:cNvPr id="63" name="Text 3"/>
          <p:cNvSpPr txBox="1"/>
          <p:nvPr/>
        </p:nvSpPr>
        <p:spPr>
          <a:xfrm>
            <a:off x="785812" y="2467384"/>
            <a:ext cx="598824" cy="160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Apple Music</a:t>
            </a:r>
          </a:p>
        </p:txBody>
      </p:sp>
      <p:sp>
        <p:nvSpPr>
          <p:cNvPr id="64" name="Text 4"/>
          <p:cNvSpPr txBox="1"/>
          <p:nvPr/>
        </p:nvSpPr>
        <p:spPr>
          <a:xfrm>
            <a:off x="785812" y="2691687"/>
            <a:ext cx="7564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b="1" sz="700">
                <a:solidFill>
                  <a:srgbClr val="4A4A4A"/>
                </a:solidFill>
              </a:defRPr>
            </a:lvl1pPr>
          </a:lstStyle>
          <a:p>
            <a:pPr/>
            <a:r>
              <a:t>Subscription Service</a:t>
            </a:r>
          </a:p>
        </p:txBody>
      </p:sp>
      <p:sp>
        <p:nvSpPr>
          <p:cNvPr id="65" name="Text 5"/>
          <p:cNvSpPr txBox="1"/>
          <p:nvPr/>
        </p:nvSpPr>
        <p:spPr>
          <a:xfrm>
            <a:off x="785812" y="2925645"/>
            <a:ext cx="619492" cy="23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 sz="1300">
                <a:solidFill>
                  <a:srgbClr val="0066FF"/>
                </a:solidFill>
              </a:defRPr>
            </a:lvl1pPr>
          </a:lstStyle>
          <a:p>
            <a:pPr/>
            <a:r>
              <a:t>$125.4M</a:t>
            </a:r>
          </a:p>
        </p:txBody>
      </p:sp>
      <p:sp>
        <p:nvSpPr>
          <p:cNvPr id="66" name="Text 6"/>
          <p:cNvSpPr txBox="1"/>
          <p:nvPr/>
        </p:nvSpPr>
        <p:spPr>
          <a:xfrm>
            <a:off x="3548043" y="2245928"/>
            <a:ext cx="5225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b="1" spc="1" sz="1000">
                <a:solidFill>
                  <a:srgbClr val="FF3366"/>
                </a:solidFill>
              </a:defRPr>
            </a:lvl1pPr>
          </a:lstStyle>
          <a:p>
            <a:pPr/>
            <a:r>
              <a:t>2nd Place</a:t>
            </a:r>
          </a:p>
        </p:txBody>
      </p:sp>
      <p:sp>
        <p:nvSpPr>
          <p:cNvPr id="67" name="Text 7"/>
          <p:cNvSpPr txBox="1"/>
          <p:nvPr/>
        </p:nvSpPr>
        <p:spPr>
          <a:xfrm>
            <a:off x="3548043" y="2467384"/>
            <a:ext cx="620199" cy="160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iMac 27-inch</a:t>
            </a:r>
          </a:p>
        </p:txBody>
      </p:sp>
      <p:sp>
        <p:nvSpPr>
          <p:cNvPr id="68" name="Text 8"/>
          <p:cNvSpPr txBox="1"/>
          <p:nvPr/>
        </p:nvSpPr>
        <p:spPr>
          <a:xfrm>
            <a:off x="3548043" y="2691687"/>
            <a:ext cx="3166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b="1" sz="700">
                <a:solidFill>
                  <a:srgbClr val="4A4A4A"/>
                </a:solidFill>
              </a:defRPr>
            </a:lvl1pPr>
          </a:lstStyle>
          <a:p>
            <a:pPr/>
            <a:r>
              <a:t>Desktop</a:t>
            </a:r>
          </a:p>
        </p:txBody>
      </p:sp>
      <p:sp>
        <p:nvSpPr>
          <p:cNvPr id="69" name="Text 9"/>
          <p:cNvSpPr txBox="1"/>
          <p:nvPr/>
        </p:nvSpPr>
        <p:spPr>
          <a:xfrm>
            <a:off x="3548043" y="2925645"/>
            <a:ext cx="619492" cy="23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 sz="1300">
                <a:solidFill>
                  <a:srgbClr val="0066FF"/>
                </a:solidFill>
              </a:defRPr>
            </a:lvl1pPr>
          </a:lstStyle>
          <a:p>
            <a:pPr/>
            <a:r>
              <a:t>$124.0M</a:t>
            </a:r>
          </a:p>
        </p:txBody>
      </p:sp>
      <p:sp>
        <p:nvSpPr>
          <p:cNvPr id="70" name="Text 10"/>
          <p:cNvSpPr txBox="1"/>
          <p:nvPr/>
        </p:nvSpPr>
        <p:spPr>
          <a:xfrm>
            <a:off x="6310302" y="2245928"/>
            <a:ext cx="4979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b="1" spc="1" sz="1000">
                <a:solidFill>
                  <a:srgbClr val="FF3366"/>
                </a:solidFill>
              </a:defRPr>
            </a:lvl1pPr>
          </a:lstStyle>
          <a:p>
            <a:pPr/>
            <a:r>
              <a:t>3rd Place</a:t>
            </a:r>
          </a:p>
        </p:txBody>
      </p:sp>
      <p:sp>
        <p:nvSpPr>
          <p:cNvPr id="71" name="Text 11"/>
          <p:cNvSpPr txBox="1"/>
          <p:nvPr/>
        </p:nvSpPr>
        <p:spPr>
          <a:xfrm>
            <a:off x="6310302" y="2467384"/>
            <a:ext cx="926934" cy="160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iPad mini (5th Gen)</a:t>
            </a:r>
          </a:p>
        </p:txBody>
      </p:sp>
      <p:sp>
        <p:nvSpPr>
          <p:cNvPr id="72" name="Text 12"/>
          <p:cNvSpPr txBox="1"/>
          <p:nvPr/>
        </p:nvSpPr>
        <p:spPr>
          <a:xfrm>
            <a:off x="6310302" y="2691687"/>
            <a:ext cx="2383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b="1" sz="700">
                <a:solidFill>
                  <a:srgbClr val="4A4A4A"/>
                </a:solidFill>
              </a:defRPr>
            </a:lvl1pPr>
          </a:lstStyle>
          <a:p>
            <a:pPr/>
            <a:r>
              <a:t>Tablet</a:t>
            </a:r>
          </a:p>
        </p:txBody>
      </p:sp>
      <p:sp>
        <p:nvSpPr>
          <p:cNvPr id="73" name="Text 13"/>
          <p:cNvSpPr txBox="1"/>
          <p:nvPr/>
        </p:nvSpPr>
        <p:spPr>
          <a:xfrm>
            <a:off x="6310302" y="2925645"/>
            <a:ext cx="619492" cy="23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b="1" sz="1300">
                <a:solidFill>
                  <a:srgbClr val="0066FF"/>
                </a:solidFill>
              </a:defRPr>
            </a:lvl1pPr>
          </a:lstStyle>
          <a:p>
            <a:pPr/>
            <a:r>
              <a:t>$123.9M</a:t>
            </a:r>
          </a:p>
        </p:txBody>
      </p:sp>
      <p:sp>
        <p:nvSpPr>
          <p:cNvPr id="74" name="Shape 14"/>
          <p:cNvSpPr/>
          <p:nvPr/>
        </p:nvSpPr>
        <p:spPr>
          <a:xfrm>
            <a:off x="571500" y="4014787"/>
            <a:ext cx="8001000" cy="700089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hape 15"/>
          <p:cNvSpPr/>
          <p:nvPr/>
        </p:nvSpPr>
        <p:spPr>
          <a:xfrm>
            <a:off x="571500" y="4014787"/>
            <a:ext cx="35720" cy="700089"/>
          </a:xfrm>
          <a:prstGeom prst="rect">
            <a:avLst/>
          </a:prstGeom>
          <a:solidFill>
            <a:srgbClr val="FF336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6"/>
          <p:cNvSpPr txBox="1"/>
          <p:nvPr/>
        </p:nvSpPr>
        <p:spPr>
          <a:xfrm>
            <a:off x="750093" y="4193380"/>
            <a:ext cx="7643815" cy="532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b="1" sz="1100">
                <a:solidFill>
                  <a:srgbClr val="1A1A1A"/>
                </a:solidFill>
              </a:defRPr>
            </a:pPr>
            <a:r>
              <a:t>Key Insight:</a:t>
            </a:r>
            <a:r>
              <a:rPr>
                <a:solidFill>
                  <a:srgbClr val="4A4A4A"/>
                </a:solidFill>
              </a:rPr>
              <a:t> The success of Apple Music demonstrates that recurring revenue models generate comparable or superior returns to high-value hardware sales. This suggests a strategic opportunity for cross-selling and upselling additional services across the product portfolio.</a:t>
            </a:r>
          </a:p>
        </p:txBody>
      </p:sp>
      <p:pic>
        <p:nvPicPr>
          <p:cNvPr id="7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96104" y="-14230"/>
            <a:ext cx="1246731" cy="7175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op Selling Products (2020 – 2024)"/>
          <p:cNvSpPr txBox="1"/>
          <p:nvPr/>
        </p:nvSpPr>
        <p:spPr>
          <a:xfrm>
            <a:off x="2451411" y="239915"/>
            <a:ext cx="4241178" cy="3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300">
                <a:solidFill>
                  <a:schemeClr val="accent2"/>
                </a:solidFill>
              </a:defRPr>
            </a:lvl1pPr>
          </a:lstStyle>
          <a:p>
            <a:pPr/>
            <a:r>
              <a:t>Top Selling Products (2020 – 2024)</a:t>
            </a:r>
          </a:p>
        </p:txBody>
      </p:sp>
      <p:pic>
        <p:nvPicPr>
          <p:cNvPr id="8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6871" y="984397"/>
            <a:ext cx="6950258" cy="3909880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96104" y="-14230"/>
            <a:ext cx="1246731" cy="7175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105396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Text 0"/>
          <p:cNvSpPr txBox="1"/>
          <p:nvPr/>
        </p:nvSpPr>
        <p:spPr>
          <a:xfrm>
            <a:off x="1556233" y="153094"/>
            <a:ext cx="6031534" cy="280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Monthly Revenue Remains Remarkably Stable Across Five Years</a:t>
            </a:r>
          </a:p>
        </p:txBody>
      </p:sp>
      <p:sp>
        <p:nvSpPr>
          <p:cNvPr id="85" name="Text 1"/>
          <p:cNvSpPr txBox="1"/>
          <p:nvPr/>
        </p:nvSpPr>
        <p:spPr>
          <a:xfrm>
            <a:off x="106096" y="664948"/>
            <a:ext cx="8500635" cy="156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b="1" sz="1100">
                <a:solidFill>
                  <a:srgbClr val="4A4A4A"/>
                </a:solidFill>
              </a:defRPr>
            </a:lvl1pPr>
          </a:lstStyle>
          <a:p>
            <a:pPr/>
            <a:r>
              <a:t>Sales volume consistently hovers between $100M-$110M monthly from 2020-2024, indicating stable demand and predictable business operations.</a:t>
            </a:r>
          </a:p>
        </p:txBody>
      </p:sp>
      <p:sp>
        <p:nvSpPr>
          <p:cNvPr id="86" name="Text 2"/>
          <p:cNvSpPr txBox="1"/>
          <p:nvPr/>
        </p:nvSpPr>
        <p:spPr>
          <a:xfrm>
            <a:off x="685800" y="1052977"/>
            <a:ext cx="9195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700"/>
              </a:lnSpc>
              <a:defRPr b="1" spc="2" sz="1000">
                <a:solidFill>
                  <a:srgbClr val="4A4A4A"/>
                </a:solidFill>
              </a:defRPr>
            </a:lvl1pPr>
          </a:lstStyle>
          <a:p>
            <a:pPr/>
            <a:r>
              <a:t>Average Monthly</a:t>
            </a:r>
          </a:p>
        </p:txBody>
      </p:sp>
      <p:sp>
        <p:nvSpPr>
          <p:cNvPr id="87" name="Text 3"/>
          <p:cNvSpPr txBox="1"/>
          <p:nvPr/>
        </p:nvSpPr>
        <p:spPr>
          <a:xfrm>
            <a:off x="685800" y="1195852"/>
            <a:ext cx="444426" cy="173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0066FF"/>
                </a:solidFill>
              </a:defRPr>
            </a:lvl1pPr>
          </a:lstStyle>
          <a:p>
            <a:pPr/>
            <a:r>
              <a:t>~$105M</a:t>
            </a:r>
          </a:p>
        </p:txBody>
      </p:sp>
      <p:sp>
        <p:nvSpPr>
          <p:cNvPr id="88" name="Text 4"/>
          <p:cNvSpPr txBox="1"/>
          <p:nvPr/>
        </p:nvSpPr>
        <p:spPr>
          <a:xfrm>
            <a:off x="3400425" y="1052977"/>
            <a:ext cx="82587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700"/>
              </a:lnSpc>
              <a:defRPr b="1" spc="2" sz="1000">
                <a:solidFill>
                  <a:srgbClr val="4A4A4A"/>
                </a:solidFill>
              </a:defRPr>
            </a:lvl1pPr>
          </a:lstStyle>
          <a:p>
            <a:pPr/>
            <a:r>
              <a:t>Revenue Range</a:t>
            </a:r>
          </a:p>
        </p:txBody>
      </p:sp>
      <p:sp>
        <p:nvSpPr>
          <p:cNvPr id="89" name="Text 5"/>
          <p:cNvSpPr txBox="1"/>
          <p:nvPr/>
        </p:nvSpPr>
        <p:spPr>
          <a:xfrm>
            <a:off x="3400425" y="1195852"/>
            <a:ext cx="724161" cy="173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0066FF"/>
                </a:solidFill>
              </a:defRPr>
            </a:lvl1pPr>
          </a:lstStyle>
          <a:p>
            <a:pPr/>
            <a:r>
              <a:t>$96M-$110M</a:t>
            </a:r>
          </a:p>
        </p:txBody>
      </p:sp>
      <p:sp>
        <p:nvSpPr>
          <p:cNvPr id="90" name="Text 6"/>
          <p:cNvSpPr txBox="1"/>
          <p:nvPr/>
        </p:nvSpPr>
        <p:spPr>
          <a:xfrm>
            <a:off x="6115050" y="1052977"/>
            <a:ext cx="3564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700"/>
              </a:lnSpc>
              <a:defRPr b="1" spc="2" sz="1000">
                <a:solidFill>
                  <a:srgbClr val="4A4A4A"/>
                </a:solidFill>
              </a:defRPr>
            </a:lvl1pPr>
          </a:lstStyle>
          <a:p>
            <a:pPr/>
            <a:r>
              <a:t>Period</a:t>
            </a:r>
          </a:p>
        </p:txBody>
      </p:sp>
      <p:sp>
        <p:nvSpPr>
          <p:cNvPr id="91" name="Text 7"/>
          <p:cNvSpPr txBox="1"/>
          <p:nvPr/>
        </p:nvSpPr>
        <p:spPr>
          <a:xfrm>
            <a:off x="6115050" y="1195852"/>
            <a:ext cx="579240" cy="173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0066FF"/>
                </a:solidFill>
              </a:defRPr>
            </a:lvl1pPr>
          </a:lstStyle>
          <a:p>
            <a:pPr/>
            <a:r>
              <a:t>60 Months</a:t>
            </a:r>
          </a:p>
        </p:txBody>
      </p:sp>
      <p:pic>
        <p:nvPicPr>
          <p:cNvPr id="9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8582" y="1672885"/>
            <a:ext cx="5903047" cy="3541828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73662" y="-14230"/>
            <a:ext cx="1069172" cy="6153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09038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 0"/>
          <p:cNvSpPr txBox="1"/>
          <p:nvPr/>
        </p:nvSpPr>
        <p:spPr>
          <a:xfrm>
            <a:off x="571500" y="214313"/>
            <a:ext cx="800100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United States Market Dominance Creates Geographic Risk Concentration</a:t>
            </a:r>
          </a:p>
        </p:txBody>
      </p:sp>
      <p:sp>
        <p:nvSpPr>
          <p:cNvPr id="97" name="Text 1"/>
          <p:cNvSpPr txBox="1"/>
          <p:nvPr/>
        </p:nvSpPr>
        <p:spPr>
          <a:xfrm>
            <a:off x="268288" y="814971"/>
            <a:ext cx="8244223" cy="14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b="1" sz="1100">
                <a:solidFill>
                  <a:srgbClr val="4A4A4A"/>
                </a:solidFill>
              </a:defRPr>
            </a:lvl1pPr>
          </a:lstStyle>
          <a:p>
            <a:pPr/>
            <a:r>
              <a:t>The US generates about $1.23 billion (37.5% of revenue), more than twice any other country, presenting strategic risk and growth opportunity.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657225" y="1152265"/>
            <a:ext cx="1170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700"/>
              </a:lnSpc>
              <a:defRPr b="1" spc="2" sz="1000">
                <a:solidFill>
                  <a:srgbClr val="4A4A4A"/>
                </a:solidFill>
              </a:defRPr>
            </a:pPr>
            <a:r>
              <a:rPr>
                <a:solidFill>
                  <a:srgbClr val="FF40FF"/>
                </a:solidFill>
              </a:rPr>
              <a:t>First Place: </a:t>
            </a:r>
            <a:r>
              <a:t>US Market</a:t>
            </a:r>
          </a:p>
        </p:txBody>
      </p:sp>
      <p:sp>
        <p:nvSpPr>
          <p:cNvPr id="99" name="Text 3"/>
          <p:cNvSpPr txBox="1"/>
          <p:nvPr/>
        </p:nvSpPr>
        <p:spPr>
          <a:xfrm>
            <a:off x="657225" y="1287995"/>
            <a:ext cx="447800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0066FF"/>
                </a:solidFill>
              </a:defRPr>
            </a:lvl1pPr>
          </a:lstStyle>
          <a:p>
            <a:pPr/>
            <a:r>
              <a:t>$1.23B</a:t>
            </a:r>
          </a:p>
        </p:txBody>
      </p:sp>
      <p:sp>
        <p:nvSpPr>
          <p:cNvPr id="100" name="Text 4"/>
          <p:cNvSpPr txBox="1"/>
          <p:nvPr/>
        </p:nvSpPr>
        <p:spPr>
          <a:xfrm>
            <a:off x="3359934" y="1152265"/>
            <a:ext cx="16499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700"/>
              </a:lnSpc>
              <a:defRPr b="1" spc="2" sz="1000">
                <a:solidFill>
                  <a:srgbClr val="4A4A4A"/>
                </a:solidFill>
              </a:defRPr>
            </a:pPr>
            <a:r>
              <a:rPr>
                <a:solidFill>
                  <a:srgbClr val="FF40FF"/>
                </a:solidFill>
              </a:rPr>
              <a:t>Next Largest:</a:t>
            </a:r>
            <a:r>
              <a:t> Australia &amp; China</a:t>
            </a:r>
          </a:p>
        </p:txBody>
      </p:sp>
      <p:sp>
        <p:nvSpPr>
          <p:cNvPr id="101" name="Text 5"/>
          <p:cNvSpPr txBox="1"/>
          <p:nvPr/>
        </p:nvSpPr>
        <p:spPr>
          <a:xfrm>
            <a:off x="3359934" y="1287995"/>
            <a:ext cx="454869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0066FF"/>
                </a:solidFill>
              </a:defRPr>
            </a:lvl1pPr>
          </a:lstStyle>
          <a:p>
            <a:pPr/>
            <a:r>
              <a:t>$577M</a:t>
            </a:r>
          </a:p>
        </p:txBody>
      </p:sp>
      <p:sp>
        <p:nvSpPr>
          <p:cNvPr id="102" name="Text 6"/>
          <p:cNvSpPr txBox="1"/>
          <p:nvPr/>
        </p:nvSpPr>
        <p:spPr>
          <a:xfrm>
            <a:off x="6062643" y="1152265"/>
            <a:ext cx="15598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700"/>
              </a:lnSpc>
              <a:defRPr b="1" spc="2" sz="1000">
                <a:solidFill>
                  <a:srgbClr val="4A4A4A"/>
                </a:solidFill>
              </a:defRPr>
            </a:pPr>
            <a:r>
              <a:rPr>
                <a:solidFill>
                  <a:srgbClr val="FF40FF"/>
                </a:solidFill>
              </a:rPr>
              <a:t>4th &amp; 5th Place:</a:t>
            </a:r>
            <a:r>
              <a:t> UAE &amp; Japan</a:t>
            </a:r>
          </a:p>
        </p:txBody>
      </p:sp>
      <p:sp>
        <p:nvSpPr>
          <p:cNvPr id="103" name="Text 7"/>
          <p:cNvSpPr txBox="1"/>
          <p:nvPr/>
        </p:nvSpPr>
        <p:spPr>
          <a:xfrm>
            <a:off x="6062643" y="1287995"/>
            <a:ext cx="255812" cy="17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b="1" sz="1100">
                <a:solidFill>
                  <a:srgbClr val="0066FF"/>
                </a:solidFill>
              </a:defRPr>
            </a:lvl1pPr>
          </a:lstStyle>
          <a:p>
            <a:pPr/>
            <a:r>
              <a:t>2.1x</a:t>
            </a:r>
          </a:p>
        </p:txBody>
      </p:sp>
      <p:pic>
        <p:nvPicPr>
          <p:cNvPr id="10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38266" y="1855369"/>
            <a:ext cx="3158154" cy="29978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33221" y="-14230"/>
            <a:ext cx="1109614" cy="6385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8288" y="334573"/>
            <a:ext cx="4478535" cy="2687109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 0"/>
          <p:cNvSpPr txBox="1"/>
          <p:nvPr/>
        </p:nvSpPr>
        <p:spPr>
          <a:xfrm>
            <a:off x="5130496" y="549595"/>
            <a:ext cx="3442004" cy="576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300"/>
              </a:lnSpc>
              <a:defRPr b="1" sz="1600">
                <a:solidFill>
                  <a:schemeClr val="accent2"/>
                </a:solidFill>
              </a:defRPr>
            </a:lvl1pPr>
          </a:lstStyle>
          <a:p>
            <a:pPr/>
            <a:r>
              <a:t>Accessories and Smartphones Require Immediate Quality Control Review</a:t>
            </a:r>
          </a:p>
        </p:txBody>
      </p:sp>
      <p:sp>
        <p:nvSpPr>
          <p:cNvPr id="110" name="Text 1"/>
          <p:cNvSpPr txBox="1"/>
          <p:nvPr/>
        </p:nvSpPr>
        <p:spPr>
          <a:xfrm>
            <a:off x="5130496" y="1920323"/>
            <a:ext cx="3442004" cy="710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b="1" sz="1100">
                <a:solidFill>
                  <a:srgbClr val="4A4A4A"/>
                </a:solidFill>
              </a:defRPr>
            </a:pPr>
            <a:r>
              <a:t>While overall claim rate is low at 2.88%, </a:t>
            </a:r>
            <a:r>
              <a:rPr>
                <a:solidFill>
                  <a:srgbClr val="FF2600"/>
                </a:solidFill>
              </a:rPr>
              <a:t>Accessories (4,650 claims)</a:t>
            </a:r>
            <a:r>
              <a:t> and </a:t>
            </a:r>
            <a:r>
              <a:rPr>
                <a:solidFill>
                  <a:srgbClr val="942192"/>
                </a:solidFill>
              </a:rPr>
              <a:t>Smartphones (4,434 claims)</a:t>
            </a:r>
            <a:r>
              <a:t> show elevated warranty activity, suggesting potential quality issues in these categories.</a:t>
            </a:r>
          </a:p>
        </p:txBody>
      </p:sp>
      <p:sp>
        <p:nvSpPr>
          <p:cNvPr id="111" name="Text 2"/>
          <p:cNvSpPr txBox="1"/>
          <p:nvPr/>
        </p:nvSpPr>
        <p:spPr>
          <a:xfrm>
            <a:off x="5130496" y="3161415"/>
            <a:ext cx="1846914" cy="169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b="1" sz="1500">
                <a:solidFill>
                  <a:srgbClr val="FF3366"/>
                </a:solidFill>
              </a:defRPr>
            </a:lvl1pPr>
          </a:lstStyle>
          <a:p>
            <a:pPr/>
            <a:r>
              <a:t>Top 3 Claim Categories:</a:t>
            </a:r>
          </a:p>
        </p:txBody>
      </p:sp>
      <p:sp>
        <p:nvSpPr>
          <p:cNvPr id="112" name="Text 3"/>
          <p:cNvSpPr txBox="1"/>
          <p:nvPr/>
        </p:nvSpPr>
        <p:spPr>
          <a:xfrm>
            <a:off x="5130496" y="3422162"/>
            <a:ext cx="3442004" cy="52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b="1" sz="1000">
                <a:solidFill>
                  <a:srgbClr val="1A1A1A"/>
                </a:solidFill>
              </a:defRPr>
            </a:pPr>
            <a:r>
              <a:t>1. Accessories:</a:t>
            </a:r>
            <a:r>
              <a:rPr b="0">
                <a:solidFill>
                  <a:srgbClr val="4A4A4A"/>
                </a:solidFill>
              </a:rPr>
              <a:t> 4,650 Claims</a:t>
            </a:r>
            <a:endParaRPr b="0">
              <a:solidFill>
                <a:srgbClr val="4A4A4A"/>
              </a:solidFill>
            </a:endParaRPr>
          </a:p>
          <a:p>
            <a:pPr>
              <a:lnSpc>
                <a:spcPts val="1400"/>
              </a:lnSpc>
              <a:defRPr b="1" sz="1000">
                <a:solidFill>
                  <a:srgbClr val="1A1A1A"/>
                </a:solidFill>
              </a:defRPr>
            </a:pPr>
            <a:r>
              <a:t>2. Smartphone:</a:t>
            </a:r>
            <a:r>
              <a:rPr b="0">
                <a:solidFill>
                  <a:srgbClr val="4A4A4A"/>
                </a:solidFill>
              </a:rPr>
              <a:t> 4,434 Claims</a:t>
            </a:r>
            <a:endParaRPr b="0">
              <a:solidFill>
                <a:srgbClr val="4A4A4A"/>
              </a:solidFill>
            </a:endParaRPr>
          </a:p>
          <a:p>
            <a:pPr>
              <a:lnSpc>
                <a:spcPts val="1400"/>
              </a:lnSpc>
              <a:defRPr b="1" sz="1000">
                <a:solidFill>
                  <a:srgbClr val="1A1A1A"/>
                </a:solidFill>
              </a:defRPr>
            </a:pPr>
            <a:r>
              <a:t>3. Audio:</a:t>
            </a:r>
            <a:r>
              <a:rPr b="0">
                <a:solidFill>
                  <a:srgbClr val="4A4A4A"/>
                </a:solidFill>
              </a:rPr>
              <a:t> 3,768 Claims</a:t>
            </a:r>
          </a:p>
        </p:txBody>
      </p:sp>
      <p:pic>
        <p:nvPicPr>
          <p:cNvPr id="113" name="Image" descr="Image"/>
          <p:cNvPicPr>
            <a:picLocks noChangeAspect="1"/>
          </p:cNvPicPr>
          <p:nvPr/>
        </p:nvPicPr>
        <p:blipFill>
          <a:blip r:embed="rId4">
            <a:extLst/>
          </a:blip>
          <a:srcRect l="17110" t="12005" r="17105" b="11821"/>
          <a:stretch>
            <a:fillRect/>
          </a:stretch>
        </p:blipFill>
        <p:spPr>
          <a:xfrm>
            <a:off x="6321644" y="1226470"/>
            <a:ext cx="512609" cy="593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0" h="21391" fill="norm" stroke="1" extrusionOk="0">
                <a:moveTo>
                  <a:pt x="7861" y="6"/>
                </a:moveTo>
                <a:cubicBezTo>
                  <a:pt x="7566" y="-5"/>
                  <a:pt x="7427" y="0"/>
                  <a:pt x="7427" y="21"/>
                </a:cubicBezTo>
                <a:cubicBezTo>
                  <a:pt x="7427" y="38"/>
                  <a:pt x="7351" y="49"/>
                  <a:pt x="7244" y="49"/>
                </a:cubicBezTo>
                <a:cubicBezTo>
                  <a:pt x="7037" y="49"/>
                  <a:pt x="6817" y="99"/>
                  <a:pt x="6727" y="164"/>
                </a:cubicBezTo>
                <a:cubicBezTo>
                  <a:pt x="6422" y="382"/>
                  <a:pt x="6314" y="526"/>
                  <a:pt x="6276" y="736"/>
                </a:cubicBezTo>
                <a:cubicBezTo>
                  <a:pt x="6259" y="831"/>
                  <a:pt x="6233" y="3151"/>
                  <a:pt x="6226" y="6085"/>
                </a:cubicBezTo>
                <a:lnTo>
                  <a:pt x="6210" y="11263"/>
                </a:lnTo>
                <a:lnTo>
                  <a:pt x="3491" y="11263"/>
                </a:lnTo>
                <a:cubicBezTo>
                  <a:pt x="1992" y="11268"/>
                  <a:pt x="729" y="11285"/>
                  <a:pt x="690" y="11291"/>
                </a:cubicBezTo>
                <a:cubicBezTo>
                  <a:pt x="650" y="11298"/>
                  <a:pt x="537" y="11352"/>
                  <a:pt x="439" y="11406"/>
                </a:cubicBezTo>
                <a:cubicBezTo>
                  <a:pt x="264" y="11503"/>
                  <a:pt x="151" y="11634"/>
                  <a:pt x="22" y="11921"/>
                </a:cubicBezTo>
                <a:cubicBezTo>
                  <a:pt x="-42" y="12065"/>
                  <a:pt x="43" y="12449"/>
                  <a:pt x="156" y="12564"/>
                </a:cubicBezTo>
                <a:cubicBezTo>
                  <a:pt x="198" y="12608"/>
                  <a:pt x="223" y="12648"/>
                  <a:pt x="223" y="12664"/>
                </a:cubicBezTo>
                <a:cubicBezTo>
                  <a:pt x="223" y="12709"/>
                  <a:pt x="10036" y="21126"/>
                  <a:pt x="10196" y="21218"/>
                </a:cubicBezTo>
                <a:cubicBezTo>
                  <a:pt x="10270" y="21261"/>
                  <a:pt x="10408" y="21318"/>
                  <a:pt x="10496" y="21346"/>
                </a:cubicBezTo>
                <a:cubicBezTo>
                  <a:pt x="10583" y="21375"/>
                  <a:pt x="10736" y="21388"/>
                  <a:pt x="10829" y="21389"/>
                </a:cubicBezTo>
                <a:cubicBezTo>
                  <a:pt x="11185" y="21395"/>
                  <a:pt x="10939" y="21595"/>
                  <a:pt x="16416" y="16898"/>
                </a:cubicBezTo>
                <a:cubicBezTo>
                  <a:pt x="20676" y="13245"/>
                  <a:pt x="21466" y="12547"/>
                  <a:pt x="21486" y="12464"/>
                </a:cubicBezTo>
                <a:cubicBezTo>
                  <a:pt x="21499" y="12410"/>
                  <a:pt x="21527" y="12271"/>
                  <a:pt x="21536" y="12150"/>
                </a:cubicBezTo>
                <a:cubicBezTo>
                  <a:pt x="21558" y="11840"/>
                  <a:pt x="21506" y="11707"/>
                  <a:pt x="21286" y="11520"/>
                </a:cubicBezTo>
                <a:cubicBezTo>
                  <a:pt x="21188" y="11437"/>
                  <a:pt x="21091" y="11377"/>
                  <a:pt x="21069" y="11377"/>
                </a:cubicBezTo>
                <a:cubicBezTo>
                  <a:pt x="21047" y="11377"/>
                  <a:pt x="21008" y="11357"/>
                  <a:pt x="20986" y="11334"/>
                </a:cubicBezTo>
                <a:cubicBezTo>
                  <a:pt x="20964" y="11311"/>
                  <a:pt x="20907" y="11294"/>
                  <a:pt x="20869" y="11291"/>
                </a:cubicBezTo>
                <a:cubicBezTo>
                  <a:pt x="20830" y="11289"/>
                  <a:pt x="19575" y="11268"/>
                  <a:pt x="18067" y="11263"/>
                </a:cubicBezTo>
                <a:lnTo>
                  <a:pt x="15315" y="11263"/>
                </a:lnTo>
                <a:lnTo>
                  <a:pt x="15315" y="5985"/>
                </a:lnTo>
                <a:cubicBezTo>
                  <a:pt x="15315" y="834"/>
                  <a:pt x="15327" y="702"/>
                  <a:pt x="15265" y="578"/>
                </a:cubicBezTo>
                <a:cubicBezTo>
                  <a:pt x="15187" y="422"/>
                  <a:pt x="14996" y="239"/>
                  <a:pt x="14865" y="192"/>
                </a:cubicBezTo>
                <a:cubicBezTo>
                  <a:pt x="14811" y="173"/>
                  <a:pt x="14765" y="147"/>
                  <a:pt x="14765" y="135"/>
                </a:cubicBezTo>
                <a:cubicBezTo>
                  <a:pt x="14765" y="123"/>
                  <a:pt x="14739" y="105"/>
                  <a:pt x="14698" y="92"/>
                </a:cubicBezTo>
                <a:cubicBezTo>
                  <a:pt x="14658" y="79"/>
                  <a:pt x="13201" y="61"/>
                  <a:pt x="11463" y="49"/>
                </a:cubicBezTo>
                <a:cubicBezTo>
                  <a:pt x="9725" y="38"/>
                  <a:pt x="8099" y="15"/>
                  <a:pt x="7861" y="6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14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21375" y="3200389"/>
            <a:ext cx="2115312" cy="19620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222624" y="-14230"/>
            <a:ext cx="920210" cy="5295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399140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Text 0"/>
          <p:cNvSpPr txBox="1"/>
          <p:nvPr/>
        </p:nvSpPr>
        <p:spPr>
          <a:xfrm>
            <a:off x="1391536" y="282511"/>
            <a:ext cx="6360928" cy="290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300"/>
              </a:lnSpc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Four Strategic Priorities for Sustainable Growth and Risk Mitigation</a:t>
            </a:r>
          </a:p>
        </p:txBody>
      </p:sp>
      <p:sp>
        <p:nvSpPr>
          <p:cNvPr id="119" name="Text 1"/>
          <p:cNvSpPr txBox="1"/>
          <p:nvPr/>
        </p:nvSpPr>
        <p:spPr>
          <a:xfrm>
            <a:off x="571500" y="832944"/>
            <a:ext cx="8001000" cy="351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4A4A4A"/>
                </a:solidFill>
              </a:defRPr>
            </a:lvl1pPr>
          </a:lstStyle>
          <a:p>
            <a:pPr/>
            <a:r>
              <a:t>Focus on quality control investigation, service expansion, geographic market diversification, and replication of top-performing product success factors to drive future growth.</a:t>
            </a:r>
          </a:p>
        </p:txBody>
      </p:sp>
      <p:sp>
        <p:nvSpPr>
          <p:cNvPr id="120" name="Text 2"/>
          <p:cNvSpPr txBox="1"/>
          <p:nvPr/>
        </p:nvSpPr>
        <p:spPr>
          <a:xfrm>
            <a:off x="821530" y="1747345"/>
            <a:ext cx="167185" cy="35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400">
                <a:solidFill>
                  <a:srgbClr val="0066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1" name="Text 3"/>
          <p:cNvSpPr txBox="1"/>
          <p:nvPr/>
        </p:nvSpPr>
        <p:spPr>
          <a:xfrm>
            <a:off x="821530" y="2161682"/>
            <a:ext cx="1976005" cy="173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b="1" sz="1300">
                <a:solidFill>
                  <a:srgbClr val="1A1A1A"/>
                </a:solidFill>
              </a:defRPr>
            </a:lvl1pPr>
          </a:lstStyle>
          <a:p>
            <a:pPr/>
            <a:r>
              <a:t>Quality Control Investigation</a:t>
            </a:r>
          </a:p>
        </p:txBody>
      </p:sp>
      <p:sp>
        <p:nvSpPr>
          <p:cNvPr id="122" name="Text 4"/>
          <p:cNvSpPr txBox="1"/>
          <p:nvPr/>
        </p:nvSpPr>
        <p:spPr>
          <a:xfrm>
            <a:off x="821530" y="2414559"/>
            <a:ext cx="3393282" cy="490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b="1" sz="900">
                <a:solidFill>
                  <a:srgbClr val="4A4A4A"/>
                </a:solidFill>
              </a:defRPr>
            </a:lvl1pPr>
          </a:lstStyle>
          <a:p>
            <a:pPr/>
            <a:r>
              <a:t>Immediately investigate the root causes of high warranty claims in the Accessories and Smartphone categories to improve product reliability and reduce post-sale costs.</a:t>
            </a:r>
          </a:p>
        </p:txBody>
      </p:sp>
      <p:sp>
        <p:nvSpPr>
          <p:cNvPr id="123" name="Text 5"/>
          <p:cNvSpPr txBox="1"/>
          <p:nvPr/>
        </p:nvSpPr>
        <p:spPr>
          <a:xfrm>
            <a:off x="4964905" y="1747345"/>
            <a:ext cx="167185" cy="35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400">
                <a:solidFill>
                  <a:srgbClr val="FF3366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4" name="Text 6"/>
          <p:cNvSpPr txBox="1"/>
          <p:nvPr/>
        </p:nvSpPr>
        <p:spPr>
          <a:xfrm>
            <a:off x="4964905" y="2161682"/>
            <a:ext cx="1241036" cy="173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b="1" sz="1300">
                <a:solidFill>
                  <a:srgbClr val="1A1A1A"/>
                </a:solidFill>
              </a:defRPr>
            </a:lvl1pPr>
          </a:lstStyle>
          <a:p>
            <a:pPr/>
            <a:r>
              <a:t>Service Expansion</a:t>
            </a:r>
          </a:p>
        </p:txBody>
      </p:sp>
      <p:sp>
        <p:nvSpPr>
          <p:cNvPr id="125" name="Text 7"/>
          <p:cNvSpPr txBox="1"/>
          <p:nvPr/>
        </p:nvSpPr>
        <p:spPr>
          <a:xfrm>
            <a:off x="4964905" y="2414559"/>
            <a:ext cx="3393281" cy="490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b="1" sz="900">
                <a:solidFill>
                  <a:srgbClr val="4A4A4A"/>
                </a:solidFill>
              </a:defRPr>
            </a:lvl1pPr>
          </a:lstStyle>
          <a:p>
            <a:pPr/>
            <a:r>
              <a:t>Leverage the success of the Subscription Service model (Apple Music: $125.4M) to drive higher-margin recurring revenue and increase customer lifetime value.</a:t>
            </a:r>
          </a:p>
        </p:txBody>
      </p:sp>
      <p:sp>
        <p:nvSpPr>
          <p:cNvPr id="126" name="Text 8"/>
          <p:cNvSpPr txBox="1"/>
          <p:nvPr/>
        </p:nvSpPr>
        <p:spPr>
          <a:xfrm>
            <a:off x="821530" y="3608961"/>
            <a:ext cx="167185" cy="35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400">
                <a:solidFill>
                  <a:srgbClr val="0066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7" name="Text 9"/>
          <p:cNvSpPr txBox="1"/>
          <p:nvPr/>
        </p:nvSpPr>
        <p:spPr>
          <a:xfrm>
            <a:off x="821530" y="4023298"/>
            <a:ext cx="1531896" cy="173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b="1" sz="1300">
                <a:solidFill>
                  <a:srgbClr val="1A1A1A"/>
                </a:solidFill>
              </a:defRPr>
            </a:lvl1pPr>
          </a:lstStyle>
          <a:p>
            <a:pPr/>
            <a:r>
              <a:t>Market Diversification</a:t>
            </a:r>
          </a:p>
        </p:txBody>
      </p:sp>
      <p:sp>
        <p:nvSpPr>
          <p:cNvPr id="128" name="Text 10"/>
          <p:cNvSpPr txBox="1"/>
          <p:nvPr/>
        </p:nvSpPr>
        <p:spPr>
          <a:xfrm>
            <a:off x="821530" y="4276175"/>
            <a:ext cx="3393282" cy="490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b="1" sz="900">
                <a:solidFill>
                  <a:srgbClr val="4A4A4A"/>
                </a:solidFill>
              </a:defRPr>
            </a:lvl1pPr>
          </a:lstStyle>
          <a:p>
            <a:pPr/>
            <a:r>
              <a:t>Develop targeted strategies to increase market share in high-potential countries (China, Japan, Australia) to reduce reliance on the US market and mitigate geographic risk.</a:t>
            </a:r>
          </a:p>
        </p:txBody>
      </p:sp>
      <p:sp>
        <p:nvSpPr>
          <p:cNvPr id="129" name="Text 11"/>
          <p:cNvSpPr txBox="1"/>
          <p:nvPr/>
        </p:nvSpPr>
        <p:spPr>
          <a:xfrm>
            <a:off x="4964905" y="3608961"/>
            <a:ext cx="167185" cy="35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400">
                <a:solidFill>
                  <a:srgbClr val="FF3366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0" name="Text 12"/>
          <p:cNvSpPr txBox="1"/>
          <p:nvPr/>
        </p:nvSpPr>
        <p:spPr>
          <a:xfrm>
            <a:off x="4964905" y="4023298"/>
            <a:ext cx="1336242" cy="173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b="1" sz="1300">
                <a:solidFill>
                  <a:srgbClr val="1A1A1A"/>
                </a:solidFill>
              </a:defRPr>
            </a:lvl1pPr>
          </a:lstStyle>
          <a:p>
            <a:pPr/>
            <a:r>
              <a:t>Success Replication</a:t>
            </a:r>
          </a:p>
        </p:txBody>
      </p:sp>
      <p:sp>
        <p:nvSpPr>
          <p:cNvPr id="131" name="Text 13"/>
          <p:cNvSpPr txBox="1"/>
          <p:nvPr/>
        </p:nvSpPr>
        <p:spPr>
          <a:xfrm>
            <a:off x="4964905" y="4276175"/>
            <a:ext cx="3393281" cy="490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b="1" sz="900">
                <a:solidFill>
                  <a:srgbClr val="4A4A4A"/>
                </a:solidFill>
              </a:defRPr>
            </a:lvl1pPr>
          </a:lstStyle>
          <a:p>
            <a:pPr/>
            <a:r>
              <a:t>Analyze success factors of top-performing products (Tablets, Services) and apply lessons learned across the entire portfolio to maximize revenue potential.</a:t>
            </a:r>
          </a:p>
        </p:txBody>
      </p:sp>
      <p:pic>
        <p:nvPicPr>
          <p:cNvPr id="13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84877" y="-14230"/>
            <a:ext cx="957957" cy="5513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